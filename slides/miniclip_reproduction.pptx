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d56b7085054cc2" /><Relationship Type="http://schemas.openxmlformats.org/officeDocument/2006/relationships/extended-properties" Target="/docProps/app.xml" Id="Rc72abed1c76c48f5" /><Relationship Type="http://schemas.openxmlformats.org/officeDocument/2006/relationships/officeDocument" Target="/ppt/presentation.xml" Id="R4b8bd61d9be0473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b599ef531f647a6"/>
  </p:sldMasterIdLst>
  <p:notesMasterIdLst>
    <p:notesMasterId xmlns:r="http://schemas.openxmlformats.org/officeDocument/2006/relationships" r:id="R549b9cffdb6646fb"/>
  </p:notesMasterIdLst>
  <p:sldIdLst>
    <p:sldId xmlns:r="http://schemas.openxmlformats.org/officeDocument/2006/relationships" id="256" r:id="R7d88a3dc216145c7"/>
    <p:sldId xmlns:r="http://schemas.openxmlformats.org/officeDocument/2006/relationships" id="257" r:id="R7bcaabd4e7164299"/>
    <p:sldId xmlns:r="http://schemas.openxmlformats.org/officeDocument/2006/relationships" id="258" r:id="Re0e770332aa84619"/>
    <p:sldId xmlns:r="http://schemas.openxmlformats.org/officeDocument/2006/relationships" id="259" r:id="R5fb5a6fef2534a79"/>
    <p:sldId xmlns:r="http://schemas.openxmlformats.org/officeDocument/2006/relationships" id="260" r:id="Rfb3cfca0f57e4fbd"/>
    <p:sldId xmlns:r="http://schemas.openxmlformats.org/officeDocument/2006/relationships" id="261" r:id="R6f5cf443c5f74b64"/>
    <p:sldId xmlns:r="http://schemas.openxmlformats.org/officeDocument/2006/relationships" id="262" r:id="Re6d94784caea4362"/>
    <p:sldId xmlns:r="http://schemas.openxmlformats.org/officeDocument/2006/relationships" id="263" r:id="R273372af86d747c2"/>
    <p:sldId xmlns:r="http://schemas.openxmlformats.org/officeDocument/2006/relationships" id="264" r:id="Rd022f360d08c4885"/>
    <p:sldId xmlns:r="http://schemas.openxmlformats.org/officeDocument/2006/relationships" id="265" r:id="R78a0cab2d5d04fa8"/>
    <p:sldId xmlns:r="http://schemas.openxmlformats.org/officeDocument/2006/relationships" id="266" r:id="Rd279ebd74b574cb4"/>
    <p:sldId xmlns:r="http://schemas.openxmlformats.org/officeDocument/2006/relationships" id="267" r:id="R0c6284fb643047da"/>
    <p:sldId xmlns:r="http://schemas.openxmlformats.org/officeDocument/2006/relationships" id="268" r:id="R9dfd034907944d2a"/>
    <p:sldId xmlns:r="http://schemas.openxmlformats.org/officeDocument/2006/relationships" id="269" r:id="R924bad2db66d42fa"/>
    <p:sldId xmlns:r="http://schemas.openxmlformats.org/officeDocument/2006/relationships" id="270" r:id="R049d62fcfce34c8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6704b4aa3b4d7d" /><Relationship Type="http://schemas.openxmlformats.org/officeDocument/2006/relationships/slideMaster" Target="/ppt/slideMasters/slideMaster1.xml" Id="R8b599ef531f647a6" /><Relationship Type="http://schemas.openxmlformats.org/officeDocument/2006/relationships/notesMaster" Target="/ppt/notesMasters/notesMaster1.xml" Id="R549b9cffdb6646fb" /><Relationship Type="http://schemas.openxmlformats.org/officeDocument/2006/relationships/presProps" Target="/ppt/presProps.xml" Id="R3ea879d2819f4062" /><Relationship Type="http://schemas.openxmlformats.org/officeDocument/2006/relationships/tableStyles" Target="/ppt/tableStyles.xml" Id="Rb8bf3b3791a240c3" /><Relationship Type="http://schemas.openxmlformats.org/officeDocument/2006/relationships/slide" Target="/ppt/slides/slide1.xml" Id="R7d88a3dc216145c7" /><Relationship Type="http://schemas.openxmlformats.org/officeDocument/2006/relationships/slide" Target="/ppt/slides/slide2.xml" Id="R7bcaabd4e7164299" /><Relationship Type="http://schemas.openxmlformats.org/officeDocument/2006/relationships/slide" Target="/ppt/slides/slide3.xml" Id="Re0e770332aa84619" /><Relationship Type="http://schemas.openxmlformats.org/officeDocument/2006/relationships/slide" Target="/ppt/slides/slide4.xml" Id="R5fb5a6fef2534a79" /><Relationship Type="http://schemas.openxmlformats.org/officeDocument/2006/relationships/slide" Target="/ppt/slides/slide5.xml" Id="Rfb3cfca0f57e4fbd" /><Relationship Type="http://schemas.openxmlformats.org/officeDocument/2006/relationships/slide" Target="/ppt/slides/slide6.xml" Id="R6f5cf443c5f74b64" /><Relationship Type="http://schemas.openxmlformats.org/officeDocument/2006/relationships/slide" Target="/ppt/slides/slide7.xml" Id="Re6d94784caea4362" /><Relationship Type="http://schemas.openxmlformats.org/officeDocument/2006/relationships/slide" Target="/ppt/slides/slide8.xml" Id="R273372af86d747c2" /><Relationship Type="http://schemas.openxmlformats.org/officeDocument/2006/relationships/slide" Target="/ppt/slides/slide9.xml" Id="Rd022f360d08c4885" /><Relationship Type="http://schemas.openxmlformats.org/officeDocument/2006/relationships/slide" Target="/ppt/slides/slide10.xml" Id="R78a0cab2d5d04fa8" /><Relationship Type="http://schemas.openxmlformats.org/officeDocument/2006/relationships/slide" Target="/ppt/slides/slide11.xml" Id="Rd279ebd74b574cb4" /><Relationship Type="http://schemas.openxmlformats.org/officeDocument/2006/relationships/slide" Target="/ppt/slides/slide12.xml" Id="R0c6284fb643047da" /><Relationship Type="http://schemas.openxmlformats.org/officeDocument/2006/relationships/slide" Target="/ppt/slides/slide13.xml" Id="R9dfd034907944d2a" /><Relationship Type="http://schemas.openxmlformats.org/officeDocument/2006/relationships/slide" Target="/ppt/slides/slide14.xml" Id="R924bad2db66d42fa" /><Relationship Type="http://schemas.openxmlformats.org/officeDocument/2006/relationships/slide" Target="/ppt/slides/slide15.xml" Id="R049d62fcfce34c8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11d8229e424402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3bde585e754107" /><Relationship Type="http://schemas.openxmlformats.org/officeDocument/2006/relationships/notesMaster" Target="/ppt/notesMasters/notesMaster1.xml" Id="Re13e8b33dd5844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2c8156645a54dd4" /><Relationship Type="http://schemas.openxmlformats.org/officeDocument/2006/relationships/notesMaster" Target="/ppt/notesMasters/notesMaster1.xml" Id="R7022813412654d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69f3180619453d" /><Relationship Type="http://schemas.openxmlformats.org/officeDocument/2006/relationships/notesMaster" Target="/ppt/notesMasters/notesMaster1.xml" Id="R880b6c2fe5f040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7a419a4eac4656" /><Relationship Type="http://schemas.openxmlformats.org/officeDocument/2006/relationships/notesMaster" Target="/ppt/notesMasters/notesMaster1.xml" Id="R5248b8f4d6c248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d778af7e1e4646" /><Relationship Type="http://schemas.openxmlformats.org/officeDocument/2006/relationships/notesMaster" Target="/ppt/notesMasters/notesMaster1.xml" Id="Rbd4ef732827e4f4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432540e947e403b" /><Relationship Type="http://schemas.openxmlformats.org/officeDocument/2006/relationships/notesMaster" Target="/ppt/notesMasters/notesMaster1.xml" Id="Rf9c97d2d259e4d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a0ea06b72e4dc1" /><Relationship Type="http://schemas.openxmlformats.org/officeDocument/2006/relationships/notesMaster" Target="/ppt/notesMasters/notesMaster1.xml" Id="R4c6834972d9042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18e144e9fe4760" /><Relationship Type="http://schemas.openxmlformats.org/officeDocument/2006/relationships/notesMaster" Target="/ppt/notesMasters/notesMaster1.xml" Id="R3a4f662d21d24da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0cd2701a1004c4f" /><Relationship Type="http://schemas.openxmlformats.org/officeDocument/2006/relationships/notesMaster" Target="/ppt/notesMasters/notesMaster1.xml" Id="Re8e5bfddbe664e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974e464ff6b484f" /><Relationship Type="http://schemas.openxmlformats.org/officeDocument/2006/relationships/notesMaster" Target="/ppt/notesMasters/notesMaster1.xml" Id="R0170e7eec14c4a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f417d0521e14d53" /><Relationship Type="http://schemas.openxmlformats.org/officeDocument/2006/relationships/notesMaster" Target="/ppt/notesMasters/notesMaster1.xml" Id="Rfcc55d27c49b49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2ec8f2defce4988" /><Relationship Type="http://schemas.openxmlformats.org/officeDocument/2006/relationships/notesMaster" Target="/ppt/notesMasters/notesMaster1.xml" Id="Rf5cfcee04b8c482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1f7e47df6114973" /><Relationship Type="http://schemas.openxmlformats.org/officeDocument/2006/relationships/notesMaster" Target="/ppt/notesMasters/notesMaster1.xml" Id="Rdebb45676346449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359aa7871e4348" /><Relationship Type="http://schemas.openxmlformats.org/officeDocument/2006/relationships/notesMaster" Target="/ppt/notesMasters/notesMaster1.xml" Id="R14a278a60f2646d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17ac728ad2142c2" /><Relationship Type="http://schemas.openxmlformats.org/officeDocument/2006/relationships/notesMaster" Target="/ppt/notesMasters/notesMaster1.xml" Id="Rb3f956023a3f494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c0dec90d7b4aa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49566a55e8047fc" /><Relationship Type="http://schemas.openxmlformats.org/officeDocument/2006/relationships/slideLayout" Target="/ppt/slideLayouts/slideLayout1.xml" Id="R3094ae5adbc542b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094ae5adbc542b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cd1a701fee432d" /><Relationship Type="http://schemas.openxmlformats.org/officeDocument/2006/relationships/notesSlide" Target="/ppt/notesSlides/notesSlide1.xml" Id="Rc497f16abf2a431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75df3392be4b46" /><Relationship Type="http://schemas.openxmlformats.org/officeDocument/2006/relationships/notesSlide" Target="/ppt/notesSlides/notesSlide2.xml" Id="R68c419cfc6b1442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562bd9faf04a54" /><Relationship Type="http://schemas.openxmlformats.org/officeDocument/2006/relationships/notesSlide" Target="/ppt/notesSlides/notesSlide3.xml" Id="R4935004e787b471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b259b6c8c4405" /><Relationship Type="http://schemas.openxmlformats.org/officeDocument/2006/relationships/notesSlide" Target="/ppt/notesSlides/notesSlide4.xml" Id="R156d188bee3545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00fb26aa2047c1" /><Relationship Type="http://schemas.openxmlformats.org/officeDocument/2006/relationships/notesSlide" Target="/ppt/notesSlides/notesSlide5.xml" Id="Reba401196d7b4e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e0a033c31849d8" /><Relationship Type="http://schemas.openxmlformats.org/officeDocument/2006/relationships/notesSlide" Target="/ppt/notesSlides/notesSlide6.xml" Id="R271281b496434c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64c73649b4a13" /><Relationship Type="http://schemas.openxmlformats.org/officeDocument/2006/relationships/notesSlide" Target="/ppt/notesSlides/notesSlide7.xml" Id="Re5bd12ec35ac43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56adbcdf054065" /><Relationship Type="http://schemas.openxmlformats.org/officeDocument/2006/relationships/notesSlide" Target="/ppt/notesSlides/notesSlide8.xml" Id="R23ea4ed0949c43e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02f7028a284a75" /><Relationship Type="http://schemas.openxmlformats.org/officeDocument/2006/relationships/notesSlide" Target="/ppt/notesSlides/notesSlide9.xml" Id="Rfaa76d98f4db404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bb455974743e0" /><Relationship Type="http://schemas.openxmlformats.org/officeDocument/2006/relationships/notesSlide" Target="/ppt/notesSlides/notesSlide10.xml" Id="R7f7ba1650f6f436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e1bcd7f434f13" /><Relationship Type="http://schemas.openxmlformats.org/officeDocument/2006/relationships/notesSlide" Target="/ppt/notesSlides/notesSlide11.xml" Id="Re4bc2dcfed584b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44210a4b84cfa" /><Relationship Type="http://schemas.openxmlformats.org/officeDocument/2006/relationships/notesSlide" Target="/ppt/notesSlides/notesSlide12.xml" Id="R698f6e9462634e3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215aba1c6419e" /><Relationship Type="http://schemas.openxmlformats.org/officeDocument/2006/relationships/notesSlide" Target="/ppt/notesSlides/notesSlide13.xml" Id="Rc94a0dc75daf497d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1e275b8ffc46b3" /><Relationship Type="http://schemas.openxmlformats.org/officeDocument/2006/relationships/notesSlide" Target="/ppt/notesSlides/notesSlide14.xml" Id="R38c9e8693ca242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ec80bb4ea44df" /><Relationship Type="http://schemas.openxmlformats.org/officeDocument/2006/relationships/notesSlide" Target="/ppt/notesSlides/notesSlide15.xml" Id="Rea2f6afaa9dd454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9FFDAF-3247-4F43-9416-2B132D37F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7429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020618"/>
                </a:solidFill>
              </a:defRPr>
            </a:pPr>
            <a:r>
              <a:rPr sz="4350" b="1">
                <a:solidFill>
                  <a:srgbClr val="020618"/>
                </a:solidFill>
              </a:rPr>
              <a:t>Mini-CLIP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1836EE-E251-49F5-9CC0-279307CA5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45556C"/>
                </a:solidFill>
              </a:defRPr>
            </a:pPr>
            <a:r>
              <a:rPr sz="2250" b="0">
                <a:solidFill>
                  <a:srgbClr val="45556C"/>
                </a:solidFill>
              </a:rPr>
              <a:t>Reproducing CLIP-style image-text contrastive learning at laptop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5BF3A0-ABDE-45F5-B7C7-9E561E97E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20618"/>
                </a:solidFill>
              </a:defRPr>
            </a:pPr>
            <a:r>
              <a:rPr sz="1500" b="0">
                <a:solidFill>
                  <a:srgbClr val="020618"/>
                </a:solidFill>
              </a:rPr>
              <a:t>Radford et al. (2021), Learning Transferable Visual Models From Natural Language Supervision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A95B0A-FBC3-4180-A6DC-58BC25729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76375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005DEA-614F-4F53-8915-88E74BF1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666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556C"/>
                </a:solidFill>
              </a:defRPr>
            </a:pPr>
            <a:r>
              <a:rPr sz="1350" b="1">
                <a:solidFill>
                  <a:srgbClr val="45556C"/>
                </a:solidFill>
              </a:rPr>
              <a:t>Main result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1B8FE-EA40-42B3-A83F-6614C1B7E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9907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4.10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14CB82-2C71-41B0-A6C4-DF939876A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860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Flickr8k Text R@1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0ECC5B-4E37-425D-80A0-5193BC4E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43250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336CB-3ADE-49CC-9376-196A1C9E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33750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556C"/>
                </a:solidFill>
              </a:defRPr>
            </a:pPr>
            <a:r>
              <a:rPr sz="1350" b="1">
                <a:solidFill>
                  <a:srgbClr val="45556C"/>
                </a:solidFill>
              </a:rPr>
              <a:t>Replication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65FFE4-7CB8-4ADC-A931-AA7707D30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657600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A34A"/>
                </a:solidFill>
              </a:defRPr>
            </a:pPr>
            <a:r>
              <a:rPr sz="2700" b="1">
                <a:solidFill>
                  <a:srgbClr val="16A34A"/>
                </a:solidFill>
              </a:rPr>
              <a:t>4.10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A70349-812C-4C5C-B82E-D3ECDCAC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152900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Same Text R@1 on cluster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A6E0BB-EB50-4182-9466-01CF55AA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Mini-CLIP reproduction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9C7105-BB5B-4742-831E-5DF971F63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950628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058B4A-C037-4388-9863-A4DE71AE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PAPER CLAIM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6E365-5A7F-41A2-9DDD-2A4D7AFE1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CLIP turns classification into image-text matching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9CCD6E-C14D-49D8-B144-A3C02BC8F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ADECC-5239-4372-AC23-64FA3593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Mini-CLIP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70A71-90FC-4D0A-B470-84E8AA160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66C6C1-DFE4-45B4-888C-76A95DAF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5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826CF5-2BA9-42D9-99E1-DCE94893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955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Train image and text encoders on matched natural-language pairs.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FCC633-1C59-4296-BCEA-5DF02011C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B68D8-CE55-425A-B6BB-C5040B73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Use prompts at test time instead of a fixed classifier head.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430B79-5978-4207-A8C2-F47C61E0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9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ED51D-33EF-4DD4-8ABA-53A45055B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The paper's headline claim is transferable zero-shot visual recognition.</a:t>
            </a:r>
          </a:p>
        </p:txBody>
      </p:sp>
    </p:spTree>
    <p:extLst>
      <p:ext uri="{BB962C8B-B14F-4D97-AF65-F5344CB8AC3E}">
        <p14:creationId xmlns:p14="http://schemas.microsoft.com/office/powerpoint/2010/main" val="8778282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97DF1A-DFF7-44C7-9A86-AF3EE63A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WHY IT MATTERS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147391-6668-4E65-B606-ED29E972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The scientific claim is about scale plus a simple objective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752A33-AB9C-4BA3-BFD8-463FEEC7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4B485A-F58E-4836-AB7E-18124392C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Mini-CLIP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B5713F-36B8-484B-A018-CBBAF2C9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5A4AA1-A44F-48A1-B12E-0AFCB8EF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05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A72214-3F43-45F8-BD34-227CFAB70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955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The architecture is conceptually simple: two encoders and a similarity matrix.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E11715-6EEE-4674-9AD9-7B797734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622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4B6343-1848-4B2A-BACF-6902BB68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527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The paper's strength comes from broad web-scale supervision.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14EAB0-B0CE-448C-96A1-C16CA7B7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19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9DC513-B04F-4345-AD04-A76D92EEA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009900"/>
            <a:ext cx="971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Our project tests the mechanism under course-scale compute and data constraints.</a:t>
            </a:r>
          </a:p>
        </p:txBody>
      </p:sp>
    </p:spTree>
    <p:extLst>
      <p:ext uri="{BB962C8B-B14F-4D97-AF65-F5344CB8AC3E}">
        <p14:creationId xmlns:p14="http://schemas.microsoft.com/office/powerpoint/2010/main" val="10563897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BE026B3-DC59-4DA9-8A3C-B4467902E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E302BD-A148-4A7A-9271-C4F45BD0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We reproduced the CLIP mechanism, not the full CLIP scale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018E4-AAB7-4D27-A4AA-C158BB418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7042C4-0D0E-4A94-824F-D19F3904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Mini-CLIP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8F5E48-4CCA-4820-9651-2EF5D0CCC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B44883-C9C2-45CC-B084-BDB61902D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95500"/>
            <a:ext cx="981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C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775854-4DF0-4C51-882F-C46D3263F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81225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Item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E45D93-0BE3-4FE3-A847-0813EF9A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8122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Original CLIP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32D67-BCB6-412E-8C9E-5104F941F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18122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This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D3F96E-E1FF-4A1E-8C1C-71227364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981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9F893-F153-40F5-A5F2-912646F0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19375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Training data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B029D1-2937-4D2C-A0C0-0E671174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193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about 400M pairs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F392A6-7FAC-4141-A89B-1755CACD4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193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Flickr8k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BAC009-5FED-430D-862E-3853FC6A3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981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2E9BC3-C0DC-4244-9E64-4A1A1930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57525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Image encoder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B9A9C00-3A72-4E14-81B6-1DEB7954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5752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ResNet / ViT family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FC8F5-6B78-4752-93E9-B274D00C3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5752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ResNet-18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FC6609-CA55-4C83-AE6F-DD3193A2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09950"/>
            <a:ext cx="981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B0E511-AC64-4513-AA31-EA75A7F1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95675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Text encoder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81AE4E-1334-46D0-8C75-1D522A07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956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CLIP Transformer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22CF66-25CD-4699-BCAC-EC016A315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4956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2-layer Transformer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D734C7-908C-4952-9F51-34B2B942B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48100"/>
            <a:ext cx="981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C43806D-0319-4A6F-8C2E-55559D11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33825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Tokenizer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A5B3D06-2F4A-41B1-9565-2F91CE1B0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3382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BPE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99FBE80-5A7B-42BB-8B38-BD76CF688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93382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regex vocabulary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11202C-2A8C-46D6-BE99-8933C576D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981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3160A1-1B01-4BD7-B75E-A3D252DDD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71975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Main eval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3188B9-5DEE-42A7-8FC9-696541A99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3719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Flickr30k / MSCOCO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B62B56-6447-4F27-BCC0-94A36D83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371975"/>
            <a:ext cx="3562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Flickr8k retrieval</a:t>
            </a:r>
          </a:p>
        </p:txBody>
      </p:sp>
    </p:spTree>
    <p:extLst>
      <p:ext uri="{BB962C8B-B14F-4D97-AF65-F5344CB8AC3E}">
        <p14:creationId xmlns:p14="http://schemas.microsoft.com/office/powerpoint/2010/main" val="179112236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1F4EB9-0763-4631-9F30-FF25A37A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METHOD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D6D8D-0A50-4493-9A72-AFBF8C3B4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The batch defines a contrastive classification 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9A347F-C6FF-473E-92F8-FBE51B0C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6D2E7D-6F6F-4327-8D62-C8AE945A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Mini-CLIP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768C3D-7C0E-4A5A-955E-FF745CA6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8F1352-A8F1-427A-A510-C5106D0F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33362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20618"/>
                </a:solidFill>
              </a:defRPr>
            </a:pPr>
            <a:r>
              <a:rPr sz="1950" b="0">
                <a:solidFill>
                  <a:srgbClr val="020618"/>
                </a:solidFill>
              </a:rPr>
              <a:t>image_i -&gt; image encoder -&gt; normalized vector z_i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9B5714-1648-4028-847C-2E1DD058F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905125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20618"/>
                </a:solidFill>
              </a:defRPr>
            </a:pPr>
            <a:r>
              <a:rPr sz="1950" b="0">
                <a:solidFill>
                  <a:srgbClr val="020618"/>
                </a:solidFill>
              </a:rPr>
              <a:t>text_i  -&gt; text encoder  -&gt; normalized vector u_i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927F6B-8285-421F-8E15-7AA070A9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476625"/>
            <a:ext cx="838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563EB"/>
                </a:solidFill>
              </a:defRPr>
            </a:pPr>
            <a:r>
              <a:rPr sz="2250" b="1">
                <a:solidFill>
                  <a:srgbClr val="2563EB"/>
                </a:solidFill>
              </a:rPr>
              <a:t>similarity_ij = exp(scale) * z_i dot u_j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801F972-C6AC-4681-AEDF-236099A7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33875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56C"/>
                </a:solidFill>
              </a:defRPr>
            </a:pPr>
            <a:r>
              <a:rPr sz="1650" b="0">
                <a:solidFill>
                  <a:srgbClr val="45556C"/>
                </a:solidFill>
              </a:rPr>
              <a:t>Correct pairs lie on the diagonal of the image-text similarity matrix.</a:t>
            </a:r>
          </a:p>
        </p:txBody>
      </p:sp>
    </p:spTree>
    <p:extLst>
      <p:ext uri="{BB962C8B-B14F-4D97-AF65-F5344CB8AC3E}">
        <p14:creationId xmlns:p14="http://schemas.microsoft.com/office/powerpoint/2010/main" val="12497117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D51BA0-755E-4B02-ACFB-EF64D932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OBJECTIVE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E4DB4E-50A0-43EB-BCDD-592EB7DE7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The loss averages both retrieval directions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3CB9B-BEBD-4DE7-8C14-3AA2C886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5C2A3-3A56-481C-B071-E310769C0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Mini-CLIP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1ACA8-4D22-49FE-91B9-6136CD8A0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D3727-342C-4C53-9D50-FF98F42C7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428875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63EB"/>
                </a:solidFill>
              </a:defRPr>
            </a:pPr>
            <a:r>
              <a:rPr sz="2550" b="1">
                <a:solidFill>
                  <a:srgbClr val="2563EB"/>
                </a:solidFill>
              </a:rPr>
              <a:t>L = 0.5 * ( CE(S, targets) + CE(S^T, targets) 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9C1207-DB74-4C53-827B-678EB859A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4325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020618"/>
                </a:solidFill>
              </a:defRPr>
            </a:pPr>
            <a:r>
              <a:rPr sz="1950" b="0">
                <a:solidFill>
                  <a:srgbClr val="020618"/>
                </a:solidFill>
              </a:rPr>
              <a:t>targets = [0, 1, ..., N-1]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6CEAB-5702-491E-9E67-467A712A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9147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CA3BC9-80CB-4EED-8EE6-55F6E341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9052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Image-to-text: each image must retrieve its caption.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20BCB9-F8D4-449A-985D-588B207C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338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FBA12D-CFB4-4844-BCA0-29022962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3243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Text-to-image: each caption must retrieve its image.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61221C-0613-4763-8619-15810DB5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529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63EB"/>
                </a:solidFill>
              </a:defRPr>
            </a:pPr>
            <a:r>
              <a:rPr sz="165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D4BD38-4854-4999-994E-C0FDD427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7434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All non-matching batch elements act as negatives.</a:t>
            </a:r>
          </a:p>
        </p:txBody>
      </p:sp>
    </p:spTree>
    <p:extLst>
      <p:ext uri="{BB962C8B-B14F-4D97-AF65-F5344CB8AC3E}">
        <p14:creationId xmlns:p14="http://schemas.microsoft.com/office/powerpoint/2010/main" val="19015127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59D132-4FD9-4212-BD3F-1B5CF2657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COURSE 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163169-9F38-48F8-90D1-63490145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The implementation maps directly to course chapters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003170-9C76-45F0-8237-EB1991037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51BCA-25BA-47DC-9749-B99BE89D4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Mini-CLIP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475587-A12E-4DD6-9AD0-4B8E30C9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391E6D-9056-4E42-B587-5ACA5CE3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971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C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BD1ED5-6E93-478F-97C2-2EE466362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33600"/>
            <a:ext cx="213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Course chapters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71FD1B-6EF4-464D-AA85-A4D1E5759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33600"/>
            <a:ext cx="727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Used here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796D33-82DF-4390-8250-3713EEEB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971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0B62D7-9BDF-41C0-B313-FBB770B3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62225"/>
            <a:ext cx="213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21-25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EEEFD9-8543-4464-A8AB-6DFFEC0B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562225"/>
            <a:ext cx="727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CNN image encoder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519D2D-D300-424C-AE0E-4D8E1D96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05125"/>
            <a:ext cx="971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5626F-8360-465E-A43D-7064A75B0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990850"/>
            <a:ext cx="213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26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9E4378-EB90-4AF5-BD09-F2F19CCE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990850"/>
            <a:ext cx="727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Cross-entropy inside CLIP loss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44D2EF-3B2E-41D5-A939-AC4ADE22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971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F44960-4C96-4C9E-BA70-C8A4630E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19475"/>
            <a:ext cx="213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27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02E094-BB7D-4DA0-A09C-75B879F6A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19475"/>
            <a:ext cx="727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AdamW and weight decay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7F139C-FE52-4831-A821-82929DFD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971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4B4CF-D830-4949-91CA-78488A113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48100"/>
            <a:ext cx="213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30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25C48C-A44B-4B52-9BF3-B95682AED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48100"/>
            <a:ext cx="727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PyTorch training and evaluation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5D4BCF-6A75-47CE-88B1-B65E62CF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91000"/>
            <a:ext cx="971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8E5287-ACB8-4784-8BE9-11D964398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76725"/>
            <a:ext cx="213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37-40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39017C-7936-4B87-BA95-FEFD58863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76725"/>
            <a:ext cx="727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Transformer text encoder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BC17237-AFDB-4995-8371-C72A716A4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19625"/>
            <a:ext cx="97155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61FA79-9821-4C5E-8671-3EE5952C2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705350"/>
            <a:ext cx="21336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42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5162E60-CC64-4D25-9DF0-E84E7C6FC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05350"/>
            <a:ext cx="7277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Tokenization</a:t>
            </a:r>
          </a:p>
        </p:txBody>
      </p:sp>
    </p:spTree>
    <p:extLst>
      <p:ext uri="{BB962C8B-B14F-4D97-AF65-F5344CB8AC3E}">
        <p14:creationId xmlns:p14="http://schemas.microsoft.com/office/powerpoint/2010/main" val="103778933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6F0237-DB9A-4B13-B690-5478FE4E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EXPERIMENTAL SETUP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AC02CC-4CF1-4692-95C9-C1547C494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The strong run is small but fully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923059-E14B-4D06-8B11-152E88608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B4C20F-F011-452D-92D1-7F17E4C81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Mini-CLIP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387AC0-C8AD-408E-AD1A-B197B78E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6400C-2DDB-4BA9-AF76-F37AE70E4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789F5E-7A3A-44F1-83CF-DD101697F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28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556C"/>
                </a:solidFill>
              </a:defRPr>
            </a:pPr>
            <a:r>
              <a:rPr sz="1350" b="1">
                <a:solidFill>
                  <a:srgbClr val="45556C"/>
                </a:solidFill>
              </a:rPr>
              <a:t>Epochs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6F92D6-6F49-4BB6-9082-69918D33A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7527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563EB"/>
                </a:solidFill>
              </a:defRPr>
            </a:pPr>
            <a:r>
              <a:rPr sz="2700" b="1">
                <a:solidFill>
                  <a:srgbClr val="2563EB"/>
                </a:solidFill>
              </a:rPr>
              <a:t>50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A51A7C-977D-4C85-A5E6-989189B8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480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batch size 128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AAE0F8-6A60-448E-A4CC-4EE89D736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238375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32A0C-BBC3-446F-A1B2-1DEB8A86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428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556C"/>
                </a:solidFill>
              </a:defRPr>
            </a:pPr>
            <a:r>
              <a:rPr sz="1350" b="1">
                <a:solidFill>
                  <a:srgbClr val="45556C"/>
                </a:solidFill>
              </a:rPr>
              <a:t>Image size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F9E57-3833-4F04-A442-2E2869E1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7527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6A34A"/>
                </a:solidFill>
              </a:defRPr>
            </a:pPr>
            <a:r>
              <a:rPr sz="2700" b="1">
                <a:solidFill>
                  <a:srgbClr val="16A34A"/>
                </a:solidFill>
              </a:rPr>
              <a:t>160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A6E787-682D-49CF-9ED7-50D3A396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480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light augmentation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D1EF64-11F5-400D-9555-6CEFD2C9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38375"/>
            <a:ext cx="3143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E6BEF6E-7EB8-49BD-9D46-2E28E0E1F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428875"/>
            <a:ext cx="266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5556C"/>
                </a:solidFill>
              </a:defRPr>
            </a:pPr>
            <a:r>
              <a:rPr sz="1350" b="1">
                <a:solidFill>
                  <a:srgbClr val="45556C"/>
                </a:solidFill>
              </a:rPr>
              <a:t>Optimizer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DCA40-C855-4DDD-8198-2DAB0E47E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52725"/>
            <a:ext cx="266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EA580C"/>
                </a:solidFill>
              </a:defRPr>
            </a:pPr>
            <a:r>
              <a:rPr sz="2700" b="1">
                <a:solidFill>
                  <a:srgbClr val="EA580C"/>
                </a:solidFill>
              </a:rPr>
              <a:t>AdamW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F59FC9-9498-4837-9A7B-D36E2AEB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48025"/>
            <a:ext cx="266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lr 0.0004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334051-2801-4A44-A755-FB8815C24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957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0010C9-B40A-4673-AF45-16109107F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2862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Seed is fixed at 42.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BA4F94-E11A-4B1F-B2A9-BB2E2E781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767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9EF3CC-AA11-4A19-B78A-1341010E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6672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Training writes config, vocabulary, metrics and checkpoints.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878766-C508-4612-A406-43D96A7BE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577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63EB"/>
                </a:solidFill>
              </a:defRPr>
            </a:pPr>
            <a:r>
              <a:rPr sz="157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8290BB6-7E78-4FC4-ABDF-9DEEEC95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04825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020618"/>
                </a:solidFill>
              </a:defRPr>
            </a:pPr>
            <a:r>
              <a:rPr sz="1575" b="0">
                <a:solidFill>
                  <a:srgbClr val="020618"/>
                </a:solidFill>
              </a:rPr>
              <a:t>Cluster replication stores lightweight comparison artifacts under results/.</a:t>
            </a:r>
          </a:p>
        </p:txBody>
      </p:sp>
    </p:spTree>
    <p:extLst>
      <p:ext uri="{BB962C8B-B14F-4D97-AF65-F5344CB8AC3E}">
        <p14:creationId xmlns:p14="http://schemas.microsoft.com/office/powerpoint/2010/main" val="1122336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503323-EE95-4EE0-BAA8-95D5B3A44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MAIN RESULT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B31EB-5E84-4F26-9C8F-50B5E456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The retrieval table mirrors CLIP Table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7C1EDC-D312-409B-9AB5-6A4D5438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69B44B-8E94-4953-AC0D-CF5629CC2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Mini-CLIP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0AFFF-6100-4949-9CFB-387BEE8A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92F888-21A6-42AC-A5E3-788B9E6F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1009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Reproduction-style adaptation of Table 13 in Radford et al. (2021), evaluated on Flickr8k instead of Flickr30k/MSCOCO.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6D05C-BDE4-4D0A-857B-70A823119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9875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C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8F5258-63FC-4E16-9247-6AD8C1AD3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Run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352D63-AE77-43BA-BA65-7D4662241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89560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Text R@1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662A00-9445-4F5E-9D97-867C53B9E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89560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Text R@5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568026-159F-40A3-8B81-0FE05795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8956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Text R@10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88F84A-D7C1-4F76-9474-1CCE59CC4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Image R@1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3CA649-34B1-42E8-86AE-629875696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8956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Image R@5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09DE27E-7637-4E6A-82F4-7EFFE0ED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8956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Image R@10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5A3408-6D60-48E8-AECC-B39801C3D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86125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A22760-18BC-440C-A59A-9EDB66E00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7185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README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CF82813-2535-474F-9532-B50B9BDB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4.10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D40D56-3B8C-435A-BAB0-4542B8E85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7185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14.90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C5AF95-86C6-4A60-8473-BB7693DA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37185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20.50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40326A-39AE-4D77-8818-4498C870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37185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3.84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B4FA28-6C66-47F9-B9C3-AC167D0A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37185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14.02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4B09F9-F197-457A-92D6-88D09759B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7185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21.52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2EF74-2A05-4BE8-A7DB-535853CB7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100012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AFC17C-2DE3-4F1E-97B3-36A706110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466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Cluster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FE96D4F-9CAC-48D0-B08E-E0F730D2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84810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4.10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C7241F-8988-40D0-B16A-40BCAAA4C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848100"/>
            <a:ext cx="1181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13.00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2B6D81-AAA9-4FC5-9132-3C2F8D5C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8481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20.10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CD1B75-CB80-4310-B28C-BE0F23539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481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4.00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5A654F-0076-4A2F-9901-D4F06F29A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8481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13.70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0D9FA8-AB46-4E1C-9708-1D1F97759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848100"/>
            <a:ext cx="1276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20618"/>
                </a:solidFill>
              </a:defRPr>
            </a:pPr>
            <a:r>
              <a:rPr sz="1275" b="0">
                <a:solidFill>
                  <a:srgbClr val="020618"/>
                </a:solidFill>
              </a:rPr>
              <a:t>21.64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2422AA-18F8-43A9-A1C2-D696BE4C9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720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20618"/>
                </a:solidFill>
              </a:defRPr>
            </a:pPr>
            <a:r>
              <a:rPr sz="1650" b="0">
                <a:solidFill>
                  <a:srgbClr val="020618"/>
                </a:solidFill>
              </a:rPr>
              <a:t>Retrieval is stable: Text R@1 is identical and Image R@1 is slightly higher in the replication.</a:t>
            </a:r>
          </a:p>
        </p:txBody>
      </p:sp>
    </p:spTree>
    <p:extLst>
      <p:ext uri="{BB962C8B-B14F-4D97-AF65-F5344CB8AC3E}">
        <p14:creationId xmlns:p14="http://schemas.microsoft.com/office/powerpoint/2010/main" val="177493520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29E51A-459A-4F6A-B5F1-8A42E9A9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PAPER COMPARISON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432C09-E473-4EA5-80E6-0B879FCB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The gap to CLIP is large and expected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A5FFBF-192E-4BFA-A2E6-2EF1A03A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0F060-DC69-4462-9D5C-798BA400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Mini-CLIP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C6EC5F-2BB3-447C-9162-29BC9B3A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093FA-05CA-4D69-8F7A-66E4797C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C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06A907-5D73-4E10-A2A0-8B1456976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29D128-4DA3-4A6D-AC34-61CE3774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3241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Data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80CA2A-B0E9-43C4-A1A8-2585D33A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2410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Text R@1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6E1A97-A3BF-4488-B06E-9944DF062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32410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20618"/>
                </a:solidFill>
              </a:defRPr>
            </a:pPr>
            <a:r>
              <a:rPr sz="1350" b="1">
                <a:solidFill>
                  <a:srgbClr val="020618"/>
                </a:solidFill>
              </a:rPr>
              <a:t>Image R@1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3DBDFC-F0D2-490E-A39E-038BEEE7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3367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401515-6FEC-4412-8E92-8113A88AC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194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CLIP Table 13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FDECC4-D4FB-4EBD-9F3B-8EB08148C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8194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Web-scale WIT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DACC3D-BEAF-442C-B9BA-CF10DD90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1940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88.0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AA442-000F-48A2-9B8B-4EB946C2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1940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68.7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AA8725-91B5-4C3A-8E30-D084EA77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7DC21B-1040-402B-8AFA-D4AC7CB57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Mini-CLIP README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A694B9-E74E-49A7-AC15-6683B744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3147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Flickr8k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CFE597-0AD1-49DF-BE34-D5C05C5B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1470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4.10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2999D-2212-4531-85FF-C00BB3234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1470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3.84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4FC4A0-7F6B-4027-AB30-6045A16D3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24275"/>
            <a:ext cx="952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4E5EB6-55A0-41A6-83B5-1401A094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10000"/>
            <a:ext cx="2800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Mini-CLIP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D231BA-9588-40BF-AE07-DAB3EBFD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810000"/>
            <a:ext cx="2990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Flickr8k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D1F6F2-2800-4648-8C00-BC30ADC5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1000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4.10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35D88A-3C14-4A94-BBA5-31DD0B86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10000"/>
            <a:ext cx="1562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20618"/>
                </a:solidFill>
              </a:defRPr>
            </a:pPr>
            <a:r>
              <a:rPr sz="1350" b="0">
                <a:solidFill>
                  <a:srgbClr val="020618"/>
                </a:solidFill>
              </a:rPr>
              <a:t>4.00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CA2816-D98C-44E1-8F6B-B05EE1E5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33875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20618"/>
                </a:solidFill>
              </a:defRPr>
            </a:pPr>
            <a:r>
              <a:rPr sz="1725" b="0">
                <a:solidFill>
                  <a:srgbClr val="020618"/>
                </a:solidFill>
              </a:rPr>
              <a:t>Same objective, very different scale: the reproduction verifies the mechanism, not the original model capacity.</a:t>
            </a:r>
          </a:p>
        </p:txBody>
      </p:sp>
    </p:spTree>
    <p:extLst>
      <p:ext uri="{BB962C8B-B14F-4D97-AF65-F5344CB8AC3E}">
        <p14:creationId xmlns:p14="http://schemas.microsoft.com/office/powerpoint/2010/main" val="16035194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1F9067-FD0F-4ED6-8452-4E42F6EB8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ABLATION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40426A-19DF-4249-9190-682DEF2CD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Prompt wording matters, but ensembling does not help this small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3CD21-F1F5-494B-BC29-067D1319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38E8FA-12C1-42E5-AB27-B30AF96B7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Mini-CLIP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17A0A8-EA8C-4622-8240-C3E27A450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7F3611-176C-405E-9589-DA385E7A9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238375"/>
            <a:ext cx="828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ECFF"/>
          </a:solidFill>
          <a:ln xmlns:a="http://schemas.openxmlformats.org/drawingml/2006/main" w="9525">
            <a:solidFill>
              <a:srgbClr val="BFDBF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9B992-3760-453E-8A67-864C3A00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24100"/>
            <a:ext cx="3943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Prompt variant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4A94D-1677-4045-8770-AB4910A7B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3241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README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95D698-DF37-4102-97CA-A1C9FE52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241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Cluster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EB682A-709C-43E6-89C7-0A3D00FD0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752725"/>
            <a:ext cx="828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4E919E-93A7-4B6B-ACCB-D4AB60FC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38450"/>
            <a:ext cx="3943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Class name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352631-1E70-4D26-85D9-369DF79D8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28384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13.70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858537-011F-4017-AD92-52789AD8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384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11.40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5C24F6-F5CD-44FB-B386-E873F8B9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67075"/>
            <a:ext cx="828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10FBC9-DFBA-44BF-8FB1-39ED78DC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352800"/>
            <a:ext cx="3943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a photo of a {label}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FA1C3-E4C9-45BB-BDE9-B5ECAB08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3528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16.00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3006D4-8C07-4DB0-B3A6-C43BCFC9F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35280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14.00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987CB3-021E-473C-B37E-48AF6878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81425"/>
            <a:ext cx="8286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E02E45-CDCD-4B7F-97B9-C8032AB87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67150"/>
            <a:ext cx="3943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Prompt ensemble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E57F0-89DF-4719-84DC-F1A09C752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38671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14.20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4DB46-DF18-4AF6-A47B-BF696BAC8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867150"/>
            <a:ext cx="1943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020618"/>
                </a:solidFill>
              </a:defRPr>
            </a:pPr>
            <a:r>
              <a:rPr sz="1425" b="0">
                <a:solidFill>
                  <a:srgbClr val="020618"/>
                </a:solidFill>
              </a:rPr>
              <a:t>12.70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07BBD70-8348-41D4-8DB5-2AA58433D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876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20618"/>
                </a:solidFill>
              </a:defRPr>
            </a:pPr>
            <a:r>
              <a:rPr sz="1725" b="0">
                <a:solidFill>
                  <a:srgbClr val="020618"/>
                </a:solidFill>
              </a:rPr>
              <a:t>The ranking is unchanged across runs: simple photo prompt wins, prompt ensemble stays second.</a:t>
            </a:r>
          </a:p>
        </p:txBody>
      </p:sp>
    </p:spTree>
    <p:extLst>
      <p:ext uri="{BB962C8B-B14F-4D97-AF65-F5344CB8AC3E}">
        <p14:creationId xmlns:p14="http://schemas.microsoft.com/office/powerpoint/2010/main" val="26455369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D8195E9-24EE-48E1-B491-69986C22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WOW EFFECT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178DC-1D2D-4E5B-B671-CA22438D1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The replication adds a useful stability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AE5ABD-74D7-42F6-B959-20C5FEC2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9A417C-0387-4284-ADDF-B43966685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Mini-CLIP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0E04F1-28E1-402B-8034-C0B799297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6BB72B-C458-4557-9567-466128B3A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05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4F96EF-BB45-4AB5-8CFC-0316DB67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Retrieval R@1 replicated almost exactly across environments.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6157E-5F65-41F2-AC4F-631F312E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4A09D-8C3B-4FDC-A106-70516B1AD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098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Zero-shot prompt accuracy dropped by 1.5-2.3 percentage points.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63C18E-A25F-456F-9D25-02B31D42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337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A0D3C-FC78-4C8D-B668-9589914C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This suggests retrieval is the more robust benchmark for our small model.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E1B997-EC3F-4C60-859C-5267BB035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53898D-1FF3-45EC-AFC0-8C08464E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42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The finding is a counterpoint to the paper's broad zero-shot transfer story.</a:t>
            </a:r>
          </a:p>
        </p:txBody>
      </p:sp>
    </p:spTree>
    <p:extLst>
      <p:ext uri="{BB962C8B-B14F-4D97-AF65-F5344CB8AC3E}">
        <p14:creationId xmlns:p14="http://schemas.microsoft.com/office/powerpoint/2010/main" val="8844481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6C4F9B-0E86-438D-A80C-1028BCEE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8EDB15-A884-4D4B-BF10-54BC6E248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Most limitations come from scale rather than the loss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E4C864-C978-4391-8337-48FF1F191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A304A-25F6-4A54-98F1-7615D2BEF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Mini-CLIP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B99CE3-CAAA-4E12-A079-FDFDCD73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A7971-81B3-4821-A8D4-C912BB465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05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482DA8-483F-4C8F-84CD-B2488658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20618"/>
                </a:solidFill>
              </a:defRPr>
            </a:pPr>
            <a:r>
              <a:rPr sz="1725" b="0">
                <a:solidFill>
                  <a:srgbClr val="020618"/>
                </a:solidFill>
              </a:rPr>
              <a:t>Flickr8k is tiny compared with CLIP's web-scale image-text data.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8D4205-7493-4A44-A0F4-2729FEDB6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193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AB90AB-46FB-461C-809F-A4A4F588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098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20618"/>
                </a:solidFill>
              </a:defRPr>
            </a:pPr>
            <a:r>
              <a:rPr sz="1725" b="0">
                <a:solidFill>
                  <a:srgbClr val="020618"/>
                </a:solidFill>
              </a:rPr>
              <a:t>The model uses a small ResNet-18 and a small Transformer trained from scratch.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589BB9-65BE-4F62-9FA2-4F55C2CCB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337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A82925-C412-4980-9D87-C5B7C5174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2420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20618"/>
                </a:solidFill>
              </a:defRPr>
            </a:pPr>
            <a:r>
              <a:rPr sz="1725" b="0">
                <a:solidFill>
                  <a:srgbClr val="020618"/>
                </a:solidFill>
              </a:rPr>
              <a:t>The tokenizer is deliberately simple and loses linguistic detail.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01F63B-D337-4051-9AB8-AE759D2D0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563EB"/>
                </a:solidFill>
              </a:defRPr>
            </a:pPr>
            <a:r>
              <a:rPr sz="1725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1941DD-3FE0-4C47-BE7F-E605D1C5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385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020618"/>
                </a:solidFill>
              </a:defRPr>
            </a:pPr>
            <a:r>
              <a:rPr sz="1725" b="0">
                <a:solidFill>
                  <a:srgbClr val="020618"/>
                </a:solidFill>
              </a:rPr>
              <a:t>Evaluation is adapted to Flickr8k and CIFAR-10, so it is not numerically comparable to full CLIP.</a:t>
            </a:r>
          </a:p>
        </p:txBody>
      </p:sp>
    </p:spTree>
    <p:extLst>
      <p:ext uri="{BB962C8B-B14F-4D97-AF65-F5344CB8AC3E}">
        <p14:creationId xmlns:p14="http://schemas.microsoft.com/office/powerpoint/2010/main" val="66753490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AB75BB-47D1-49B0-8984-BBD2A7E2D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REPRODUCIBILITY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2CF17E-C351-474E-8F5E-B705E80E4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The full run is a single command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BA4EB3-1131-4011-B54C-018B4DAC3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FCCE0-9D5B-4750-8516-476F92C66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Mini-CLIP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3D8152-AA8C-43CF-ACEF-038382136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9096A9-5763-4A58-A22A-2FC7C8D96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3812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20618"/>
                </a:solidFill>
              </a:defRPr>
            </a:pPr>
            <a:r>
              <a:rPr sz="1875" b="1">
                <a:solidFill>
                  <a:srgbClr val="020618"/>
                </a:solidFill>
              </a:rPr>
              <a:t>python -m miniclip_repro.reproduce \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F0C435-9882-4137-A21F-9A773D71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575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20618"/>
                </a:solidFill>
              </a:defRPr>
            </a:pPr>
            <a:r>
              <a:rPr sz="1875" b="1">
                <a:solidFill>
                  <a:srgbClr val="020618"/>
                </a:solidFill>
              </a:rPr>
              <a:t>  --config configs/flickr8k_strong.yaml \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0FA20-EE71-4241-AED0-32A96B788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20618"/>
                </a:solidFill>
              </a:defRPr>
            </a:pPr>
            <a:r>
              <a:rPr sz="1875" b="1">
                <a:solidFill>
                  <a:srgbClr val="020618"/>
                </a:solidFill>
              </a:rPr>
              <a:t>  --output-dir outputs/flickr8k-strong-160-b128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65D275-9512-4B05-AEF2-9F7E7051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286250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5556C"/>
                </a:solidFill>
              </a:defRPr>
            </a:pPr>
            <a:r>
              <a:rPr sz="1650" b="0">
                <a:solidFill>
                  <a:srgbClr val="45556C"/>
                </a:solidFill>
              </a:rPr>
              <a:t>Outputs include checkpoints, metrics, retrieval tables and prompt-ablation artifacts.</a:t>
            </a:r>
          </a:p>
        </p:txBody>
      </p:sp>
    </p:spTree>
    <p:extLst>
      <p:ext uri="{BB962C8B-B14F-4D97-AF65-F5344CB8AC3E}">
        <p14:creationId xmlns:p14="http://schemas.microsoft.com/office/powerpoint/2010/main" val="208797922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512ED1-C160-4B13-869C-8D42671E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563EB"/>
                </a:solidFill>
              </a:defRPr>
            </a:pPr>
            <a:r>
              <a:rPr sz="1050" b="1">
                <a:solidFill>
                  <a:srgbClr val="2563EB"/>
                </a:solidFill>
              </a:rPr>
              <a:t>TAKEAWAYS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3DC797-A82E-4591-8271-C302D183F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2000"/>
            <a:ext cx="9144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The reproduction supports CLIP's mechanism but not its scale-dependent claims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976C7B-933C-4729-876F-058A1AC97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383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721B6-756C-40DD-8BD7-028B0D288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62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Mini-CLIP reproduction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AAAFBF-2236-43AD-ADAC-5B741B00E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2748E"/>
                </a:solidFill>
              </a:defRPr>
            </a:pPr>
            <a:r>
              <a:rPr sz="975" b="0">
                <a:solidFill>
                  <a:srgbClr val="62748E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209BF-0CB2-4CD9-AEE8-0D17F8B2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050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0DB30-A556-48B8-BB42-597B4060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0955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The contrastive dual-encoder recipe is reproducible and modular.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231FF6-3FEA-45E2-904C-4F4397941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384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A3306D-8F03-4E03-8268-BE3B0F61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289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Mini-CLIP learns measurable image-text alignment on Flickr8k.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E1E80D-5DDB-4AEF-A128-F7DA9203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718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CC3D82-9414-43EF-B153-81066F7A7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623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Zero-shot transfer is weak and sensitive at this scale.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D3EF97-5B64-4C12-B926-B7CA914FF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B02C1A-0EB4-47D1-8DFC-5E3AF397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695700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020618"/>
                </a:solidFill>
              </a:defRPr>
            </a:pPr>
            <a:r>
              <a:rPr sz="1800" b="0">
                <a:solidFill>
                  <a:srgbClr val="020618"/>
                </a:solidFill>
              </a:rPr>
              <a:t>The original CLIP result depends heavily on data scale, model capacity and broad pre-training.</a:t>
            </a:r>
          </a:p>
        </p:txBody>
      </p:sp>
    </p:spTree>
    <p:extLst>
      <p:ext uri="{BB962C8B-B14F-4D97-AF65-F5344CB8AC3E}">
        <p14:creationId xmlns:p14="http://schemas.microsoft.com/office/powerpoint/2010/main" val="35437455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2026-07-02T08:13:21.2510000Z</dcterms:created>
  <dcterms:modified xsi:type="dcterms:W3CDTF">2026-07-02T08:13:21.2510000Z</dcterms:modified>
</coreProperties>
</file>